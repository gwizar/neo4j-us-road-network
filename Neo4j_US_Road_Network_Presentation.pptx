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4E79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F4E79"/>
                </a:solidFill>
                <a:latin typeface="Arial"/>
              </a:rPr>
              <a:t>Degree Distribution of US Road Network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Intersections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472C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B4D8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96C7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Degree 1</c:v>
                  </c:pt>
                  <c:pt idx="1">
                    <c:v>Degree 2</c:v>
                  </c:pt>
                  <c:pt idx="2">
                    <c:v>Degree 3</c:v>
                  </c:pt>
                  <c:pt idx="3">
                    <c:v>Degree 4</c:v>
                  </c:pt>
                  <c:pt idx="4">
                    <c:v>Degree 5</c:v>
                  </c:pt>
                  <c:pt idx="5">
                    <c:v>Degree 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2223</c:v>
                </c:pt>
                <c:pt idx="1">
                  <c:v>34958</c:v>
                </c:pt>
                <c:pt idx="2">
                  <c:v>30135</c:v>
                </c:pt>
                <c:pt idx="3">
                  <c:v>19960</c:v>
                </c:pt>
                <c:pt idx="4">
                  <c:v>256</c:v>
                </c:pt>
                <c:pt idx="5">
                  <c:v>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7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75B6"/>
              </a:solidFill>
              <a:effectLst/>
            </c:spPr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</c:dPt>
          <c:dPt>
            <c:idx val="2"/>
            <c:bubble3D val="0"/>
            <c:spPr>
              <a:solidFill>
                <a:srgbClr val="FFB70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Low (deg 1-2)</c:v>
                </c:pt>
                <c:pt idx="1">
                  <c:v>Medium (deg 3-4)</c:v>
                </c:pt>
                <c:pt idx="2">
                  <c:v>High (deg 5-6)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37181</c:v>
                </c:pt>
                <c:pt idx="1">
                  <c:v>50095</c:v>
                </c:pt>
                <c:pt idx="2">
                  <c:v>299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2.xm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ADVENTIST UNIVERSITY OF CENTRAL AFRICA (AUCA)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MSDA9215: Big Data Analytics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37160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Neo4J: US Road Network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74320" y="242316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286000" y="3154680"/>
            <a:ext cx="45720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291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BYIRINGIRO Elie Yvan  |  GWIZA Rodrigue  |  NTWALI KINANIRA Christian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74320" y="3749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Temitope Oguntade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371600" y="4251960"/>
            <a:ext cx="201168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0" y="42702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87,575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4590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0" y="4251960"/>
            <a:ext cx="201168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0" y="42702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121,961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931920" y="4590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92240" y="4251960"/>
            <a:ext cx="201168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42702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92240" y="459028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Degree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474720"/>
          </a:xfrm>
          <a:prstGeom prst="rect">
            <a:avLst/>
          </a:prstGeom>
          <a:solidFill>
            <a:srgbClr val="F0F7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Neo4j?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leading graph database management system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data as nodes and relationships (not tables)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Cypher as its query language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highly connected data like road networks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powerful graph algorithms via GDS plugin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4023360" cy="3474720"/>
          </a:xfrm>
          <a:prstGeom prst="rect">
            <a:avLst/>
          </a:prstGeom>
          <a:solidFill>
            <a:srgbClr val="F0F7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0" y="169164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US road network into Neo4j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and analyze the graph structure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shortest paths between intersections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critical intersections using centrality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insights using interactive dashboards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Continental US Road Network  (usa.txt)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011680" cy="11887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6002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87,575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21762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(Nodes)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554480"/>
            <a:ext cx="2011680" cy="11887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6002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121,961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68880" y="21762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(Edges)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554480"/>
            <a:ext cx="2011680" cy="11887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63440" y="16002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21762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0" y="1554480"/>
            <a:ext cx="2011680" cy="11887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0" y="16002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58000" y="21762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 Structure: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3337560"/>
            <a:ext cx="8412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1: Total number of vertices and edges  (e.g. 87575 121961)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2–87576: Vertex index followed by X and Y coordinates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lines: Pairs of vertex indices representing roads (edges)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weights are calculated as Euclidean distances between coordinates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777240"/>
          </a:xfrm>
          <a:prstGeom prst="rect">
            <a:avLst/>
          </a:prstGeom>
          <a:solidFill>
            <a:srgbClr val="F0F7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73152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Desktop 2.1.4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" y="14904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database management system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114800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97280"/>
            <a:ext cx="73152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143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2026.05.0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9472" y="14904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graph database engine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4114800" cy="777240"/>
          </a:xfrm>
          <a:prstGeom prst="rect">
            <a:avLst/>
          </a:prstGeom>
          <a:solidFill>
            <a:srgbClr val="F0F7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057400"/>
            <a:ext cx="73152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103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Data Science (GDS)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" y="2450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algorithms &amp; analytics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057400"/>
            <a:ext cx="4114800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057400"/>
            <a:ext cx="73152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103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2450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parsing and loading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4114800" cy="777240"/>
          </a:xfrm>
          <a:prstGeom prst="rect">
            <a:avLst/>
          </a:prstGeom>
          <a:solidFill>
            <a:srgbClr val="F0F7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017520"/>
            <a:ext cx="73152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0632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Python Driver 6.2.0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8912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Python-Neo4j connectivity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017520"/>
            <a:ext cx="4114800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3017520"/>
            <a:ext cx="73152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9472" y="30632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19472" y="34107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 centrality computation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977640"/>
            <a:ext cx="4114800" cy="777240"/>
          </a:xfrm>
          <a:prstGeom prst="rect">
            <a:avLst/>
          </a:prstGeom>
          <a:solidFill>
            <a:srgbClr val="F0F7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977640"/>
            <a:ext cx="73152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4023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8912" y="4370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charts and dashboards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977640"/>
            <a:ext cx="4114800" cy="777240"/>
          </a:xfrm>
          <a:prstGeom prst="rect">
            <a:avLst/>
          </a:prstGeom>
          <a:solidFill>
            <a:srgbClr val="E8F4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977640"/>
            <a:ext cx="73152" cy="7772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4023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19472" y="43708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 &amp; 2: Network Summary &amp; Shortest Path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023360" cy="3657600"/>
          </a:xfrm>
          <a:prstGeom prst="rect">
            <a:avLst/>
          </a:prstGeom>
          <a:solidFill>
            <a:srgbClr val="F0F7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1: Network Summary</a:t>
            </a:r>
            <a:endParaRPr lang="en-US" sz="1500" dirty="0"/>
          </a:p>
        </p:txBody>
      </p:sp>
      <p:pic>
        <p:nvPicPr>
          <p:cNvPr id="6" name="Image 0" descr="/home/claude/task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08760"/>
            <a:ext cx="374904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51460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Intersections: 87,575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Roads: 121,961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complete dataset loaded into Neo4j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 of 1.39 edges/node confirms sparse network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46320" y="1005840"/>
            <a:ext cx="4023360" cy="3657600"/>
          </a:xfrm>
          <a:prstGeom prst="rect">
            <a:avLst/>
          </a:prstGeom>
          <a:solidFill>
            <a:srgbClr val="F0F7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2: Shortest Path</a:t>
            </a:r>
            <a:endParaRPr lang="en-US" sz="1500" dirty="0"/>
          </a:p>
        </p:txBody>
      </p:sp>
      <p:pic>
        <p:nvPicPr>
          <p:cNvPr id="10" name="Image 1" descr="/home/claude/task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3749040" cy="9601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937760" y="2560320"/>
            <a:ext cx="37490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Intersection 0 → Intersection 100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hops: 29 intersections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distance: 428.85 units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Neo4j built-in shortestPath() function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3: High Connectivity Intersections (Degree &gt; 3)</a:t>
            </a:r>
            <a:endParaRPr lang="en-US" sz="2400" dirty="0"/>
          </a:p>
        </p:txBody>
      </p:sp>
      <p:pic>
        <p:nvPicPr>
          <p:cNvPr id="4" name="Image 0" descr="/home/claude/task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005840"/>
            <a:ext cx="4389120" cy="1188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846320" y="1005840"/>
            <a:ext cx="1280160" cy="11887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846320" y="1051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20,259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846320" y="15727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Degree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63640" y="1005840"/>
            <a:ext cx="1280160" cy="11887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263640" y="1051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4.02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263640" y="15727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680960" y="1005840"/>
            <a:ext cx="1280160" cy="11887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680960" y="10515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680960" y="157276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Found</a:t>
            </a:r>
            <a:endParaRPr lang="en-US" sz="10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274320" y="2331720"/>
          <a:ext cx="859536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4: Betweenness Centrality Analysis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640080"/>
          </a:xfrm>
          <a:prstGeom prst="rect">
            <a:avLst/>
          </a:prstGeom>
          <a:solidFill>
            <a:srgbClr val="E8F4FD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5156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Betweenness Centrality measures how often a node lies on the shortest path between other nodes — high score = critical bridge point.</a:t>
            </a:r>
            <a:endParaRPr lang="en-US" sz="1200" dirty="0"/>
          </a:p>
        </p:txBody>
      </p:sp>
      <p:pic>
        <p:nvPicPr>
          <p:cNvPr id="6" name="Image 0" descr="/home/claude/task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737360"/>
            <a:ext cx="4114800" cy="2286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1737360"/>
            <a:ext cx="4114800" cy="685800"/>
          </a:xfrm>
          <a:prstGeom prst="rect">
            <a:avLst/>
          </a:prstGeom>
          <a:solidFill>
            <a:srgbClr val="1F4E79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09160" y="178308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440680" y="17830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314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40680" y="2084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0.2548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2514600"/>
            <a:ext cx="41148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709160" y="256032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440680" y="2560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305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40680" y="2862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0.2157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3291840"/>
            <a:ext cx="4114800" cy="685800"/>
          </a:xfrm>
          <a:prstGeom prst="rect">
            <a:avLst/>
          </a:prstGeom>
          <a:solidFill>
            <a:srgbClr val="F0F7FF"/>
          </a:solidFill>
          <a:ln w="12700">
            <a:solidFill>
              <a:srgbClr val="2E75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09160" y="333756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40680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308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40680" y="36393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Score: 0.2102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663440" y="416052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314 is the most critical bridge point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Removing it would disrupt the most paths in the network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using NetworkX on a 500-node subgraph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&amp; 7: Dashboard &amp; Top 10 Intersections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5: Key Metrics Dashboard</a:t>
            </a:r>
            <a:endParaRPr lang="en-US" sz="1400" dirty="0"/>
          </a:p>
        </p:txBody>
      </p:sp>
      <p:pic>
        <p:nvPicPr>
          <p:cNvPr id="5" name="Image 0" descr="/home/claude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17320"/>
            <a:ext cx="4206240" cy="228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0" y="1005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7: Top 10 Most Connected Intersections</a:t>
            </a:r>
            <a:endParaRPr lang="en-US" sz="1400" dirty="0"/>
          </a:p>
        </p:txBody>
      </p:sp>
      <p:pic>
        <p:nvPicPr>
          <p:cNvPr id="7" name="Image 1" descr="/home/claude/top10_intersectio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17320"/>
            <a:ext cx="4206240" cy="2286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38404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Top 10 intersections share degree 6 — the maximum observed in the network, representing major highway interchanges.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74320" y="4297680"/>
          <a:ext cx="8595360" cy="640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 &amp; 9: Categories &amp; Degree Distribution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8: Intersection Categories by Degree</a:t>
            </a:r>
            <a:endParaRPr lang="en-US" sz="1400" dirty="0"/>
          </a:p>
        </p:txBody>
      </p:sp>
      <p:pic>
        <p:nvPicPr>
          <p:cNvPr id="5" name="Image 0" descr="/home/claude/catego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417320"/>
            <a:ext cx="4206240" cy="2560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54880" y="10058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9: Final Degree Distribution</a:t>
            </a:r>
            <a:endParaRPr lang="en-US" sz="1400" dirty="0"/>
          </a:p>
        </p:txBody>
      </p:sp>
      <p:pic>
        <p:nvPicPr>
          <p:cNvPr id="7" name="Image 1" descr="/home/claude/degree_distribution_f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417320"/>
            <a:ext cx="4206240" cy="256032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114800"/>
          <a:ext cx="8595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2011680"/>
                <a:gridCol w="201168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Degree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Connectivity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1 - 2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37,181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42.46%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Connectivity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3 - 4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50,095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Connectivity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5 - 6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Conclusions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1247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Sparse Network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4904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degree of 2.8 — most intersections connect to only 2 or 3 roads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11480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1247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Critical Node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49047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314 has the highest betweenness centrality (0.2548) — most critical bridge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331720"/>
            <a:ext cx="411480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24048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🛣️ Hub Minority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27706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0.34% (299 nodes) are high-connectivity hubs but play a disproportionate role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331720"/>
            <a:ext cx="411480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24048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Shortest Path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77063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from node 0 to node 100 takes 29 hops and covers 428.85 distance units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611880"/>
            <a:ext cx="411480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11480" y="36850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Neo4j Power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507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Cypher queries efficiently handled 87,575 nodes and 121,961 relationships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611880"/>
            <a:ext cx="4114800" cy="109728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92040" y="368503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Degree Cap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405079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degree is 6 — even the busiest interchanges connect to at most 6 roads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successfully demonstrated the power of graph databases for analyzing large-scale road networks.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proved to be an excellent tool offering intuitive Cypher queries, efficient path-finding, and seamless Python integration.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could include real geographic mapping, traffic simulation, and community detection.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19202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31546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87,575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3108960"/>
            <a:ext cx="19202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31546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121,961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606040" y="3703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3108960"/>
            <a:ext cx="19202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31546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3703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3108960"/>
            <a:ext cx="1920240" cy="1188720"/>
          </a:xfrm>
          <a:prstGeom prst="rect">
            <a:avLst/>
          </a:prstGeom>
          <a:solidFill>
            <a:srgbClr val="065A82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315468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03720" y="3703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448056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BYIRINGIRO Elie Yvan  |  GWIZA Rodrigue  |  NTWALI KINANIRA Christian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Neo4J: US Road Network Analysis</dc:title>
  <dc:subject>PptxGenJS Presentation</dc:subject>
  <dc:creator>PptxGenJS</dc:creator>
  <cp:lastModifiedBy>PptxGenJS</cp:lastModifiedBy>
  <cp:revision>1</cp:revision>
  <dcterms:created xsi:type="dcterms:W3CDTF">2026-06-03T14:47:33Z</dcterms:created>
  <dcterms:modified xsi:type="dcterms:W3CDTF">2026-06-03T14:47:33Z</dcterms:modified>
</cp:coreProperties>
</file>